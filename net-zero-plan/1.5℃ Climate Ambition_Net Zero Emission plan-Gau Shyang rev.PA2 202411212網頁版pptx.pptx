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307" r:id="rId4"/>
    <p:sldId id="311" r:id="rId5"/>
    <p:sldId id="310" r:id="rId6"/>
    <p:sldId id="312" r:id="rId7"/>
    <p:sldId id="297" r:id="rId8"/>
    <p:sldId id="313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ED7D31"/>
    <a:srgbClr val="FAC000"/>
    <a:srgbClr val="FAD22D"/>
    <a:srgbClr val="AF78D2"/>
    <a:srgbClr val="008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4714"/>
  </p:normalViewPr>
  <p:slideViewPr>
    <p:cSldViewPr>
      <p:cViewPr varScale="1">
        <p:scale>
          <a:sx n="110" d="100"/>
          <a:sy n="110" d="100"/>
        </p:scale>
        <p:origin x="21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4564E-9B65-6F45-AAF3-E43D06F06171}" type="datetimeFigureOut">
              <a:rPr kumimoji="1" lang="zh-TW" altLang="en-US" smtClean="0"/>
              <a:t>2026/7/3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05194-EFBF-D944-AE5D-94D10762673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972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1069D80-6000-40B4-951E-994A94A2B9B5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1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1069D80-6000-40B4-951E-994A94A2B9B5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1069D80-6000-40B4-951E-994A94A2B9B5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4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1069D80-6000-40B4-951E-994A94A2B9B5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5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50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85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14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64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96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73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11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7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15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96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48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36990-2F8E-409D-98A3-80D29FDE3BC1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036D2-A8F8-48ED-AED8-3479ACEF2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95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hyperlink" Target="https://gaushyang.netlify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6076"/>
            <a:ext cx="9144000" cy="33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高祥標誌">
            <a:extLst>
              <a:ext uri="{FF2B5EF4-FFF2-40B4-BE49-F238E27FC236}">
                <a16:creationId xmlns:a16="http://schemas.microsoft.com/office/drawing/2014/main" id="{903CE6F3-72D2-D8DD-0020-5529766CD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54" y="620688"/>
            <a:ext cx="15113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WordArt 5">
            <a:extLst>
              <a:ext uri="{FF2B5EF4-FFF2-40B4-BE49-F238E27FC236}">
                <a16:creationId xmlns:a16="http://schemas.microsoft.com/office/drawing/2014/main" id="{0DE9CEF2-7DBD-15D3-D653-D5410CE6880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726504" y="620688"/>
            <a:ext cx="5470525" cy="863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2800" b="1" kern="10" dirty="0">
                <a:ln w="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電信工程股份有限公司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15516" y="1982350"/>
            <a:ext cx="8712968" cy="1846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" altLang="zh-TW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92D050">
                      <a:alpha val="43000"/>
                    </a:srgbClr>
                  </a:outerShdw>
                </a:effectLst>
                <a:latin typeface="Ericsson Hilda" panose="00000500000000000000" pitchFamily="2" charset="0"/>
                <a:ea typeface="微軟正黑體" pitchFamily="34" charset="-120"/>
                <a:cs typeface="Arial" panose="020B0604020202020204" pitchFamily="34" charset="0"/>
              </a:rPr>
              <a:t>Carbon emissions report</a:t>
            </a:r>
          </a:p>
          <a:p>
            <a:pPr algn="ctr"/>
            <a:r>
              <a:rPr lang="en-US" altLang="zh-TW" sz="5400" b="1" dirty="0">
                <a:solidFill>
                  <a:schemeClr val="tx2"/>
                </a:solidFill>
                <a:effectLst>
                  <a:outerShdw blurRad="38100" dist="38100" dir="2700000" algn="tl">
                    <a:srgbClr val="92D050">
                      <a:alpha val="43000"/>
                    </a:srgbClr>
                  </a:outerShdw>
                </a:effectLst>
                <a:latin typeface="Ericsson Hilda" panose="00000500000000000000" pitchFamily="2" charset="0"/>
                <a:ea typeface="微軟正黑體" pitchFamily="34" charset="-120"/>
                <a:cs typeface="Arial" panose="020B0604020202020204" pitchFamily="34" charset="0"/>
              </a:rPr>
              <a:t>31 OCT , 2024</a:t>
            </a:r>
            <a:endParaRPr lang="zh-TW" altLang="en-US" sz="5400" b="1" dirty="0">
              <a:solidFill>
                <a:schemeClr val="tx2"/>
              </a:solidFill>
              <a:effectLst>
                <a:outerShdw blurRad="38100" dist="38100" dir="2700000" algn="tl">
                  <a:srgbClr val="92D050">
                    <a:alpha val="43000"/>
                  </a:srgbClr>
                </a:outerShdw>
              </a:effectLst>
              <a:latin typeface="Ericsson Hilda" panose="00000500000000000000" pitchFamily="2" charset="0"/>
              <a:ea typeface="微軟正黑體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2">
            <a:extLst>
              <a:ext uri="{FF2B5EF4-FFF2-40B4-BE49-F238E27FC236}">
                <a16:creationId xmlns:a16="http://schemas.microsoft.com/office/drawing/2014/main" id="{96B19252-36C1-4889-BB89-1674676AE838}"/>
              </a:ext>
            </a:extLst>
          </p:cNvPr>
          <p:cNvSpPr>
            <a:spLocks/>
          </p:cNvSpPr>
          <p:nvPr/>
        </p:nvSpPr>
        <p:spPr>
          <a:xfrm>
            <a:off x="235279" y="3970040"/>
            <a:ext cx="2160984" cy="197924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0" rIns="685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Halve absolute emissions by 2030 and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 Net-Zero by 2050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3D52471-CF66-424F-99D0-3D5E6BF0122A}"/>
              </a:ext>
            </a:extLst>
          </p:cNvPr>
          <p:cNvSpPr>
            <a:spLocks/>
          </p:cNvSpPr>
          <p:nvPr/>
        </p:nvSpPr>
        <p:spPr>
          <a:xfrm>
            <a:off x="235279" y="1988840"/>
            <a:ext cx="2160984" cy="182680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0" rIns="685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 </a:t>
            </a:r>
            <a:r>
              <a:rPr lang="en-US" sz="15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Shyang</a:t>
            </a: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Telecommunication commits to the 1.5°C Climate Ambition and pledges to: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D2E9F333-7578-49CB-ACAD-E1809AC06430}"/>
              </a:ext>
            </a:extLst>
          </p:cNvPr>
          <p:cNvSpPr>
            <a:spLocks/>
          </p:cNvSpPr>
          <p:nvPr/>
        </p:nvSpPr>
        <p:spPr>
          <a:xfrm>
            <a:off x="2483768" y="2006854"/>
            <a:ext cx="2257771" cy="3942426"/>
          </a:xfrm>
          <a:prstGeom prst="rect">
            <a:avLst/>
          </a:prstGeom>
          <a:solidFill>
            <a:schemeClr val="bg2"/>
          </a:solidFill>
        </p:spPr>
        <p:txBody>
          <a:bodyPr wrap="square" lIns="102870" tIns="68580">
            <a:noAutofit/>
          </a:bodyPr>
          <a:lstStyle/>
          <a:p>
            <a:pPr>
              <a:spcBef>
                <a:spcPts val="450"/>
              </a:spcBef>
              <a:spcAft>
                <a:spcPts val="675"/>
              </a:spcAft>
            </a:pPr>
            <a:r>
              <a:rPr lang="en-US" sz="2000" b="1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of Net-Zero</a:t>
            </a:r>
          </a:p>
          <a:p>
            <a:pPr marL="257175" indent="-257175">
              <a:spcBef>
                <a:spcPts val="45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of emissions in value chain in line with the 1.5°C pathway</a:t>
            </a:r>
          </a:p>
          <a:p>
            <a:pPr marL="257175" indent="-257175">
              <a:spcBef>
                <a:spcPts val="45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818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Neutralize the consequences of any remaining emissions by permanently eliminating an equivalent volume of CO2 (SBTi, 2021)</a:t>
            </a:r>
            <a:endParaRPr lang="en-US" sz="1400" dirty="0">
              <a:solidFill>
                <a:srgbClr val="181818"/>
              </a:solidFill>
              <a:latin typeface="+mj-lt"/>
            </a:endParaRPr>
          </a:p>
          <a:p>
            <a:pPr marL="257175" indent="-257175">
              <a:spcBef>
                <a:spcPts val="45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endParaRPr lang="en-US" sz="1388" dirty="0">
              <a:solidFill>
                <a:srgbClr val="181818"/>
              </a:solidFill>
              <a:latin typeface="+mj-lt"/>
            </a:endParaRPr>
          </a:p>
          <a:p>
            <a:pPr marL="257175" indent="-257175">
              <a:spcBef>
                <a:spcPts val="45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endParaRPr lang="en-US" sz="1388" dirty="0">
              <a:solidFill>
                <a:srgbClr val="181818"/>
              </a:solidFill>
              <a:latin typeface="+mj-lt"/>
            </a:endParaRPr>
          </a:p>
          <a:p>
            <a:pPr marL="257175" indent="-257175">
              <a:spcBef>
                <a:spcPts val="45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endParaRPr lang="en-US" sz="1388" dirty="0">
              <a:solidFill>
                <a:srgbClr val="181818"/>
              </a:solidFill>
              <a:latin typeface="+mj-lt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94F5572B-687D-F032-17C7-BA9072E7C99D}"/>
              </a:ext>
            </a:extLst>
          </p:cNvPr>
          <p:cNvSpPr txBox="1">
            <a:spLocks noChangeArrowheads="1"/>
          </p:cNvSpPr>
          <p:nvPr/>
        </p:nvSpPr>
        <p:spPr>
          <a:xfrm>
            <a:off x="4944929" y="2540366"/>
            <a:ext cx="4012228" cy="3408914"/>
          </a:xfrm>
          <a:prstGeom prst="rect">
            <a:avLst/>
          </a:prstGeom>
        </p:spPr>
        <p:txBody>
          <a:bodyPr/>
          <a:lstStyle>
            <a:lvl1pPr marL="210312" indent="-210312" algn="l" defTabSz="91440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6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5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624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910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196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8256" indent="-155448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Ericsson Hilda" panose="00000500000000000000" pitchFamily="2" charset="0"/>
                <a:cs typeface="Arial" panose="020B0604020202020204" pitchFamily="34" charset="0"/>
              </a:rPr>
              <a:t>We commit to the 1,5°C Climate Ambition and pledges to reduce CO2 emissions.</a:t>
            </a:r>
          </a:p>
          <a:p>
            <a:pPr>
              <a:defRPr/>
            </a:pPr>
            <a:r>
              <a:rPr lang="en-US" altLang="zh-TW" sz="1400" dirty="0">
                <a:latin typeface="Ericsson Hilda" panose="00000500000000000000" pitchFamily="2" charset="0"/>
                <a:cs typeface="Arial" panose="020B0604020202020204" pitchFamily="34" charset="0"/>
              </a:rPr>
              <a:t>We set the plan of net-zero carbon emission according to SBTi 1.5°C targets </a:t>
            </a:r>
          </a:p>
          <a:p>
            <a:pPr marL="626364" lvl="1" indent="-342900">
              <a:buFont typeface="+mj-lt"/>
              <a:buAutoNum type="arabicParenR"/>
              <a:defRPr/>
            </a:pPr>
            <a:r>
              <a:rPr lang="en-US" altLang="zh-TW" sz="1200" dirty="0">
                <a:latin typeface="Ericsson Hilda" panose="00000500000000000000" pitchFamily="2" charset="0"/>
                <a:cs typeface="Arial" panose="020B0604020202020204" pitchFamily="34" charset="0"/>
              </a:rPr>
              <a:t>From</a:t>
            </a:r>
            <a:r>
              <a:rPr lang="zh-TW" altLang="en-US" sz="1200" dirty="0">
                <a:latin typeface="Ericsson Hilda" panose="00000500000000000000" pitchFamily="2" charset="0"/>
                <a:cs typeface="Arial" panose="020B0604020202020204" pitchFamily="34" charset="0"/>
              </a:rPr>
              <a:t> </a:t>
            </a:r>
            <a:r>
              <a:rPr lang="en-US" altLang="zh-TW" sz="1200" dirty="0">
                <a:latin typeface="Ericsson Hilda" panose="00000500000000000000" pitchFamily="2" charset="0"/>
                <a:cs typeface="Arial" panose="020B0604020202020204" pitchFamily="34" charset="0"/>
              </a:rPr>
              <a:t>Y2024 to Y2030, the annual reduction goal is </a:t>
            </a:r>
            <a:r>
              <a:rPr lang="en-US" altLang="zh-TW" sz="1200" dirty="0">
                <a:highlight>
                  <a:srgbClr val="FFFF00"/>
                </a:highlight>
                <a:latin typeface="Ericsson Hilda" panose="00000500000000000000" pitchFamily="2" charset="0"/>
                <a:cs typeface="Arial" panose="020B0604020202020204" pitchFamily="34" charset="0"/>
              </a:rPr>
              <a:t>8.3% (50% by 6 Years)</a:t>
            </a:r>
            <a:r>
              <a:rPr lang="en-US" altLang="zh-TW" sz="1200" dirty="0">
                <a:latin typeface="Ericsson Hilda" panose="00000500000000000000" pitchFamily="2" charset="0"/>
                <a:cs typeface="Arial" panose="020B0604020202020204" pitchFamily="34" charset="0"/>
              </a:rPr>
              <a:t> for every year.</a:t>
            </a:r>
          </a:p>
          <a:p>
            <a:pPr marL="626364" lvl="1" indent="-342900">
              <a:buFont typeface="+mj-lt"/>
              <a:buAutoNum type="arabicParenR"/>
              <a:defRPr/>
            </a:pPr>
            <a:r>
              <a:rPr lang="en-US" altLang="zh-TW" sz="1200" dirty="0">
                <a:latin typeface="Ericsson Hilda" panose="00000500000000000000" pitchFamily="2" charset="0"/>
                <a:cs typeface="Arial" panose="020B0604020202020204" pitchFamily="34" charset="0"/>
              </a:rPr>
              <a:t>From  Y2030 to Y2050, the annual reduction goal is </a:t>
            </a:r>
            <a:r>
              <a:rPr lang="en-US" altLang="zh-TW" sz="1200" dirty="0">
                <a:highlight>
                  <a:srgbClr val="FFFF00"/>
                </a:highlight>
                <a:latin typeface="Ericsson Hilda" panose="00000500000000000000" pitchFamily="2" charset="0"/>
                <a:cs typeface="Arial" panose="020B0604020202020204" pitchFamily="34" charset="0"/>
              </a:rPr>
              <a:t>2.5% (50% by 20 Years)</a:t>
            </a:r>
            <a:r>
              <a:rPr lang="en-US" altLang="zh-TW" sz="1200" dirty="0">
                <a:latin typeface="Ericsson Hilda" panose="00000500000000000000" pitchFamily="2" charset="0"/>
                <a:cs typeface="Arial" panose="020B0604020202020204" pitchFamily="34" charset="0"/>
              </a:rPr>
              <a:t> for every year and achieve Net-Zero in Y2050</a:t>
            </a:r>
          </a:p>
          <a:p>
            <a:pPr marL="300038">
              <a:defRPr/>
            </a:pPr>
            <a:r>
              <a:rPr lang="en-US" altLang="zh-TW" sz="1400" dirty="0">
                <a:latin typeface="Ericsson Hilda" panose="00000500000000000000" pitchFamily="2" charset="0"/>
                <a:cs typeface="Arial" panose="020B0604020202020204" pitchFamily="34" charset="0"/>
              </a:rPr>
              <a:t>Holds Oath Taking Ceremony of [</a:t>
            </a:r>
            <a:r>
              <a:rPr lang="en" altLang="zh-TW" sz="1400" b="1" u="none" strike="noStrike" dirty="0" err="1">
                <a:effectLst/>
                <a:latin typeface="Ericsson Hilda" panose="00000500000000000000" pitchFamily="2" charset="0"/>
                <a:cs typeface="Arial" panose="020B0604020202020204" pitchFamily="34" charset="0"/>
              </a:rPr>
              <a:t>Gau</a:t>
            </a:r>
            <a:r>
              <a:rPr lang="en" altLang="zh-TW" sz="1400" b="1" u="none" strike="noStrike" dirty="0">
                <a:effectLst/>
                <a:latin typeface="Ericsson Hilda" panose="00000500000000000000" pitchFamily="2" charset="0"/>
                <a:cs typeface="Arial" panose="020B0604020202020204" pitchFamily="34" charset="0"/>
              </a:rPr>
              <a:t> </a:t>
            </a:r>
            <a:r>
              <a:rPr lang="en" altLang="zh-TW" sz="1400" b="1" u="none" strike="noStrike" dirty="0" err="1">
                <a:effectLst/>
                <a:latin typeface="Ericsson Hilda" panose="00000500000000000000" pitchFamily="2" charset="0"/>
                <a:cs typeface="Arial" panose="020B0604020202020204" pitchFamily="34" charset="0"/>
              </a:rPr>
              <a:t>Shyang</a:t>
            </a:r>
            <a:r>
              <a:rPr lang="en" altLang="zh-TW" sz="1400" b="1" u="none" strike="noStrike" dirty="0">
                <a:effectLst/>
                <a:latin typeface="Ericsson Hilda" panose="00000500000000000000" pitchFamily="2" charset="0"/>
                <a:cs typeface="Arial" panose="020B0604020202020204" pitchFamily="34" charset="0"/>
              </a:rPr>
              <a:t> Telecommunication Engineering Co</a:t>
            </a:r>
            <a:r>
              <a:rPr lang="en-US" altLang="zh-TW" sz="1400" dirty="0">
                <a:latin typeface="Ericsson Hilda" panose="00000500000000000000" pitchFamily="2" charset="0"/>
                <a:cs typeface="Arial" panose="020B0604020202020204" pitchFamily="34" charset="0"/>
              </a:rPr>
              <a:t>] Senior Executives Committee to promise and </a:t>
            </a:r>
            <a:r>
              <a:rPr lang="en-US" sz="1400" dirty="0">
                <a:latin typeface="Ericsson Hilda" panose="00000500000000000000" pitchFamily="2" charset="0"/>
                <a:cs typeface="Arial" panose="020B0604020202020204" pitchFamily="34" charset="0"/>
              </a:rPr>
              <a:t>show our determination to achieve the targets on behalf of all colleagues.</a:t>
            </a:r>
            <a:endParaRPr lang="zh-TW" altLang="en-US" sz="1400" dirty="0">
              <a:latin typeface="Ericsson Hilda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2DB1D50B-8E56-F952-0768-774615EFE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930" y="1699289"/>
            <a:ext cx="3942160" cy="65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itchFamily="34" charset="0"/>
                <a:ea typeface="PMingLiU" pitchFamily="18" charset="-120"/>
              </a:defRPr>
            </a:lvl9pPr>
          </a:lstStyle>
          <a:p>
            <a:pPr algn="ctr" defTabSz="685800">
              <a:defRPr/>
            </a:pPr>
            <a:r>
              <a:rPr lang="en-US" altLang="zh-TW" sz="1275" b="1" kern="0" dirty="0">
                <a:solidFill>
                  <a:srgbClr val="000000"/>
                </a:solidFill>
                <a:latin typeface="Arial"/>
                <a:ea typeface="PMingLiU"/>
              </a:rPr>
              <a:t>[</a:t>
            </a:r>
            <a:r>
              <a:rPr lang="en" altLang="zh-TW" sz="1100" b="1" i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</a:t>
            </a:r>
            <a:r>
              <a:rPr lang="en" altLang="zh-TW" sz="1100" b="1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TW" sz="1100" b="1" i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Shyang</a:t>
            </a:r>
            <a:r>
              <a:rPr lang="en" altLang="zh-TW" sz="1100" b="1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Telecommunication Engineering Co</a:t>
            </a:r>
            <a:r>
              <a:rPr lang="en-US" altLang="zh-TW" sz="1275" b="1" kern="0" dirty="0">
                <a:solidFill>
                  <a:srgbClr val="000000"/>
                </a:solidFill>
                <a:latin typeface="Arial"/>
                <a:ea typeface="PMingLiU"/>
              </a:rPr>
              <a:t>]</a:t>
            </a:r>
            <a:br>
              <a:rPr lang="en-US" altLang="zh-TW" sz="1275" b="1" kern="0" dirty="0">
                <a:solidFill>
                  <a:srgbClr val="000000"/>
                </a:solidFill>
                <a:latin typeface="Arial"/>
                <a:ea typeface="PMingLiU"/>
              </a:rPr>
            </a:br>
            <a:r>
              <a:rPr lang="en-US" altLang="zh-TW" sz="1275" b="1" kern="0" dirty="0">
                <a:solidFill>
                  <a:srgbClr val="000000"/>
                </a:solidFill>
                <a:latin typeface="Arial"/>
                <a:ea typeface="PMingLiU"/>
              </a:rPr>
              <a:t>Commits to the 1,5 °C Climate Ambition</a:t>
            </a:r>
            <a:endParaRPr lang="zh-TW" altLang="en-US" sz="1275" b="1" kern="0" dirty="0">
              <a:solidFill>
                <a:srgbClr val="000000"/>
              </a:solidFill>
              <a:latin typeface="Arial"/>
              <a:ea typeface="PMingLiU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282" y="1577246"/>
            <a:ext cx="3907875" cy="90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4BAC3EA-2AB3-46FF-8760-68C499EF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1" y="803722"/>
            <a:ext cx="8353425" cy="108108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Committed to Act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E74D5A8-0D8F-4B75-1B02-330534160884}"/>
              </a:ext>
            </a:extLst>
          </p:cNvPr>
          <p:cNvSpPr>
            <a:spLocks/>
          </p:cNvSpPr>
          <p:nvPr/>
        </p:nvSpPr>
        <p:spPr bwMode="auto">
          <a:xfrm>
            <a:off x="4587426" y="1217448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0082F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1</a:t>
            </a:r>
          </a:p>
        </p:txBody>
      </p:sp>
      <p:sp>
        <p:nvSpPr>
          <p:cNvPr id="2" name="WordArt 6">
            <a:extLst>
              <a:ext uri="{FF2B5EF4-FFF2-40B4-BE49-F238E27FC236}">
                <a16:creationId xmlns:a16="http://schemas.microsoft.com/office/drawing/2014/main" id="{71521E29-7499-70E7-9834-F555699BE04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4" name="WordArt 7">
            <a:extLst>
              <a:ext uri="{FF2B5EF4-FFF2-40B4-BE49-F238E27FC236}">
                <a16:creationId xmlns:a16="http://schemas.microsoft.com/office/drawing/2014/main" id="{F6C74320-3FDD-1EBB-B814-E4C4F6E1AB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extLst>
      <p:ext uri="{BB962C8B-B14F-4D97-AF65-F5344CB8AC3E}">
        <p14:creationId xmlns:p14="http://schemas.microsoft.com/office/powerpoint/2010/main" val="413361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6249" y="285436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  <a:t>Map Emissions</a:t>
            </a:r>
            <a:b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</a:br>
            <a: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  <a:t>Emission mapping by </a:t>
            </a:r>
            <a:b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</a:br>
            <a: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  <a:t>Gau </a:t>
            </a:r>
            <a:r>
              <a:rPr lang="en-US" altLang="zh-TW" sz="2400" dirty="0" err="1">
                <a:latin typeface="Ericsson Hilda" panose="00000500000000000000" pitchFamily="2" charset="0"/>
                <a:cs typeface="Arial" panose="020B0604020202020204" pitchFamily="34" charset="0"/>
              </a:rPr>
              <a:t>Shyang</a:t>
            </a:r>
            <a:r>
              <a:rPr lang="en-US" altLang="zh-TW" sz="2400" dirty="0">
                <a:latin typeface="Ericsson Hilda" panose="00000500000000000000" pitchFamily="2" charset="0"/>
                <a:cs typeface="Arial" panose="020B0604020202020204" pitchFamily="34" charset="0"/>
              </a:rPr>
              <a:t> Telecom</a:t>
            </a:r>
            <a:endParaRPr lang="zh-TW" altLang="en-US" sz="2400" dirty="0">
              <a:latin typeface="Ericsson Hilda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AD418DB-8BA8-1925-D17C-76712950398E}"/>
              </a:ext>
            </a:extLst>
          </p:cNvPr>
          <p:cNvSpPr>
            <a:spLocks/>
          </p:cNvSpPr>
          <p:nvPr/>
        </p:nvSpPr>
        <p:spPr bwMode="auto">
          <a:xfrm>
            <a:off x="395536" y="4581128"/>
            <a:ext cx="8208912" cy="720080"/>
          </a:xfrm>
          <a:prstGeom prst="rect">
            <a:avLst/>
          </a:prstGeom>
          <a:solidFill>
            <a:srgbClr val="E0E0E0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274320" tIns="27000" rIns="0" bIns="27432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 b="1" dirty="0">
                <a:latin typeface="Ericsson Hilda" panose="00000500000000000000" pitchFamily="2" charset="0"/>
              </a:rPr>
              <a:t>Scope 1 Direct - Fuel combustion (</a:t>
            </a:r>
            <a:r>
              <a:rPr kumimoji="0" lang="zh-TW" altLang="en-US" sz="1200" b="1" dirty="0">
                <a:latin typeface="Ericsson Hilda" panose="00000500000000000000" pitchFamily="2" charset="0"/>
              </a:rPr>
              <a:t>燃料燃燒</a:t>
            </a:r>
            <a:r>
              <a:rPr kumimoji="0" lang="en-US" altLang="zh-TW" sz="1200" b="1" dirty="0">
                <a:latin typeface="Ericsson Hilda" panose="00000500000000000000" pitchFamily="2" charset="0"/>
              </a:rPr>
              <a:t>),</a:t>
            </a:r>
            <a:r>
              <a:rPr kumimoji="0" lang="zh-TW" altLang="en-US" sz="1200" b="1" dirty="0">
                <a:latin typeface="Ericsson Hilda" panose="00000500000000000000" pitchFamily="2" charset="0"/>
              </a:rPr>
              <a:t> </a:t>
            </a:r>
            <a:endParaRPr kumimoji="0" lang="en-US" altLang="zh-TW" sz="1200" b="1" dirty="0">
              <a:latin typeface="Ericsson Hilda" panose="00000500000000000000" pitchFamily="2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32.3% (48.9 </a:t>
            </a:r>
            <a:r>
              <a:rPr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ton</a:t>
            </a:r>
            <a:r>
              <a:rPr kumimoji="0"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 CO2e)</a:t>
            </a:r>
            <a:endParaRPr lang="en-US" sz="1200" b="1" dirty="0">
              <a:highlight>
                <a:srgbClr val="FFFF00"/>
              </a:highlight>
              <a:latin typeface="Ericsson Hilda" panose="00000500000000000000" pitchFamily="2" charset="0"/>
            </a:endParaRPr>
          </a:p>
          <a:p>
            <a:pPr marL="170260" indent="-17026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dirty="0">
                <a:latin typeface="Ericsson Hilda" panose="00000500000000000000" pitchFamily="2" charset="0"/>
              </a:rPr>
              <a:t>Company </a:t>
            </a:r>
            <a:r>
              <a:rPr lang="en-US" sz="1200" dirty="0">
                <a:latin typeface="Ericsson Hilda" panose="00000500000000000000" pitchFamily="2" charset="0"/>
              </a:rPr>
              <a:t>vehicles</a:t>
            </a:r>
            <a:r>
              <a:rPr kumimoji="0" lang="en-US" sz="1200" dirty="0">
                <a:latin typeface="Ericsson Hilda" panose="00000500000000000000" pitchFamily="2" charset="0"/>
              </a:rPr>
              <a:t> (</a:t>
            </a:r>
            <a:r>
              <a:rPr kumimoji="0" lang="zh-TW" altLang="en-US" sz="1200" dirty="0">
                <a:latin typeface="Ericsson Hilda" panose="00000500000000000000" pitchFamily="2" charset="0"/>
              </a:rPr>
              <a:t>出車工作</a:t>
            </a:r>
            <a:r>
              <a:rPr kumimoji="0" lang="en-US" altLang="zh-TW" sz="1200" dirty="0">
                <a:latin typeface="Ericsson Hilda" panose="00000500000000000000" pitchFamily="2" charset="0"/>
              </a:rPr>
              <a:t>) : 22.3%</a:t>
            </a:r>
          </a:p>
          <a:p>
            <a:pPr marL="170260" indent="-170260">
              <a:buFont typeface="Arial" panose="020B0604020202020204" pitchFamily="34" charset="0"/>
              <a:buChar char="•"/>
              <a:defRPr/>
            </a:pPr>
            <a:r>
              <a:rPr lang="en" altLang="zh-TW" sz="1200" b="0" i="0" dirty="0">
                <a:solidFill>
                  <a:srgbClr val="000000"/>
                </a:solidFill>
                <a:effectLst/>
                <a:latin typeface="Ericsson Hilda" panose="00000500000000000000" pitchFamily="2" charset="0"/>
              </a:rPr>
              <a:t>Business travel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Ericsson Hilda" panose="00000500000000000000" pitchFamily="2" charset="0"/>
              </a:rPr>
              <a:t>（</a:t>
            </a:r>
            <a:r>
              <a:rPr lang="zh-TW" altLang="en-US" sz="1200" dirty="0">
                <a:solidFill>
                  <a:srgbClr val="000000"/>
                </a:solidFill>
                <a:latin typeface="Ericsson Hilda" panose="00000500000000000000" pitchFamily="2" charset="0"/>
              </a:rPr>
              <a:t>商務旅行</a:t>
            </a:r>
            <a:r>
              <a:rPr lang="en-US" altLang="zh-TW" sz="1200" dirty="0">
                <a:solidFill>
                  <a:srgbClr val="000000"/>
                </a:solidFill>
                <a:latin typeface="Ericsson Hilda" panose="00000500000000000000" pitchFamily="2" charset="0"/>
              </a:rPr>
              <a:t>) :</a:t>
            </a:r>
            <a:r>
              <a:rPr lang="en-US" altLang="zh-TW" sz="1200" dirty="0">
                <a:latin typeface="Ericsson Hilda" panose="00000500000000000000" pitchFamily="2" charset="0"/>
              </a:rPr>
              <a:t> 10.0</a:t>
            </a:r>
            <a:r>
              <a:rPr lang="zh-TW" altLang="en-US" sz="1200" dirty="0">
                <a:latin typeface="Ericsson Hilda" panose="00000500000000000000" pitchFamily="2" charset="0"/>
              </a:rPr>
              <a:t> </a:t>
            </a:r>
            <a:r>
              <a:rPr lang="en-US" altLang="zh-TW" sz="1200" dirty="0">
                <a:latin typeface="Ericsson Hilda" panose="00000500000000000000" pitchFamily="2" charset="0"/>
              </a:rPr>
              <a:t>%</a:t>
            </a:r>
            <a:endParaRPr lang="en-US" sz="1200" dirty="0">
              <a:latin typeface="Ericsson Hilda" panose="00000500000000000000" pitchFamily="2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2D99EF5-45AF-73B9-EB74-079753481610}"/>
              </a:ext>
            </a:extLst>
          </p:cNvPr>
          <p:cNvSpPr>
            <a:spLocks/>
          </p:cNvSpPr>
          <p:nvPr/>
        </p:nvSpPr>
        <p:spPr bwMode="auto">
          <a:xfrm>
            <a:off x="395536" y="5373217"/>
            <a:ext cx="8280920" cy="864096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274320" tIns="27000" rIns="0" bIns="27432" anchor="ctr"/>
          <a:lstStyle/>
          <a:p>
            <a:pPr>
              <a:defRPr/>
            </a:pPr>
            <a:r>
              <a:rPr lang="en-US" sz="1200" b="1" dirty="0">
                <a:latin typeface="Ericsson Hilda" panose="00000500000000000000" pitchFamily="2" charset="0"/>
              </a:rPr>
              <a:t>Scope 2 Indirect - Electricity (</a:t>
            </a:r>
            <a:r>
              <a:rPr lang="zh-TW" altLang="en-US" sz="1200" b="1" dirty="0">
                <a:latin typeface="Ericsson Hilda" panose="00000500000000000000" pitchFamily="2" charset="0"/>
              </a:rPr>
              <a:t>電力</a:t>
            </a:r>
            <a:r>
              <a:rPr lang="en-US" altLang="zh-TW" sz="1200" b="1" dirty="0">
                <a:latin typeface="Ericsson Hilda" panose="00000500000000000000" pitchFamily="2" charset="0"/>
              </a:rPr>
              <a:t>), </a:t>
            </a:r>
          </a:p>
          <a:p>
            <a:pPr>
              <a:defRPr/>
            </a:pPr>
            <a:r>
              <a:rPr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50.5% (76.2 ton</a:t>
            </a:r>
            <a:r>
              <a:rPr kumimoji="0"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 CO2e</a:t>
            </a:r>
            <a:r>
              <a:rPr lang="en-US" altLang="zh-TW" sz="1200" b="1" dirty="0">
                <a:highlight>
                  <a:srgbClr val="FFFF00"/>
                </a:highlight>
                <a:latin typeface="Ericsson Hilda" panose="00000500000000000000" pitchFamily="2" charset="0"/>
              </a:rPr>
              <a:t>)</a:t>
            </a:r>
            <a:endParaRPr lang="en-US" sz="1200" b="1" dirty="0">
              <a:highlight>
                <a:srgbClr val="FFFF00"/>
              </a:highlight>
              <a:latin typeface="Ericsson Hilda" panose="00000500000000000000" pitchFamily="2" charset="0"/>
            </a:endParaRPr>
          </a:p>
          <a:p>
            <a:pPr marL="170260" indent="-170260">
              <a:buFont typeface="Arial" panose="020B0604020202020204" pitchFamily="34" charset="0"/>
              <a:buChar char="•"/>
              <a:defRPr/>
            </a:pPr>
            <a:r>
              <a:rPr kumimoji="0" lang="en-US" sz="1200" dirty="0">
                <a:latin typeface="Ericsson Hilda" panose="00000500000000000000" pitchFamily="2" charset="0"/>
              </a:rPr>
              <a:t>Company facilities</a:t>
            </a:r>
            <a:r>
              <a:rPr kumimoji="0" lang="zh-TW" altLang="en-US" sz="1200" dirty="0">
                <a:latin typeface="Ericsson Hilda" panose="00000500000000000000" pitchFamily="2" charset="0"/>
              </a:rPr>
              <a:t> </a:t>
            </a:r>
            <a:r>
              <a:rPr lang="en-US" sz="1200" dirty="0">
                <a:latin typeface="Ericsson Hilda" panose="00000500000000000000" pitchFamily="2" charset="0"/>
              </a:rPr>
              <a:t>(</a:t>
            </a:r>
            <a:r>
              <a:rPr lang="zh-TW" altLang="en-US" sz="1200" dirty="0">
                <a:latin typeface="Ericsson Hilda" panose="00000500000000000000" pitchFamily="2" charset="0"/>
              </a:rPr>
              <a:t>照明、冷氣、暖氣</a:t>
            </a:r>
            <a:r>
              <a:rPr lang="en-US" altLang="zh-TW" sz="1200" dirty="0">
                <a:latin typeface="Ericsson Hilda" panose="00000500000000000000" pitchFamily="2" charset="0"/>
              </a:rPr>
              <a:t>) : 40.0%</a:t>
            </a:r>
            <a:endParaRPr lang="en-US" sz="1200" dirty="0">
              <a:latin typeface="Ericsson Hilda" panose="00000500000000000000" pitchFamily="2" charset="0"/>
            </a:endParaRPr>
          </a:p>
          <a:p>
            <a:pPr marL="170260" indent="-170260">
              <a:buFont typeface="Arial" panose="020B0604020202020204" pitchFamily="34" charset="0"/>
              <a:buChar char="•"/>
              <a:defRPr/>
            </a:pPr>
            <a:r>
              <a:rPr lang="en-US" altLang="zh-TW" sz="1200" dirty="0">
                <a:latin typeface="Ericsson Hilda" panose="00000500000000000000" pitchFamily="2" charset="0"/>
              </a:rPr>
              <a:t>Energy related activities </a:t>
            </a:r>
            <a:r>
              <a:rPr lang="en-US" sz="1200" dirty="0">
                <a:latin typeface="Ericsson Hilda" panose="00000500000000000000" pitchFamily="2" charset="0"/>
              </a:rPr>
              <a:t>(</a:t>
            </a:r>
            <a:r>
              <a:rPr lang="zh-TW" altLang="en-US" sz="1200" dirty="0">
                <a:latin typeface="Ericsson Hilda" panose="00000500000000000000" pitchFamily="2" charset="0"/>
              </a:rPr>
              <a:t>電腦、列印、影印、傳真</a:t>
            </a:r>
            <a:r>
              <a:rPr lang="en-US" altLang="zh-TW" sz="1200" dirty="0">
                <a:latin typeface="Ericsson Hilda" panose="00000500000000000000" pitchFamily="2" charset="0"/>
              </a:rPr>
              <a:t>) :  10.5%</a:t>
            </a:r>
            <a:endParaRPr lang="en-US" sz="1200" dirty="0">
              <a:latin typeface="Ericsson Hilda" panose="00000500000000000000" pitchFamily="2" charset="0"/>
            </a:endParaRPr>
          </a:p>
        </p:txBody>
      </p:sp>
      <p:sp>
        <p:nvSpPr>
          <p:cNvPr id="13" name="Arrow: Down 7">
            <a:extLst>
              <a:ext uri="{FF2B5EF4-FFF2-40B4-BE49-F238E27FC236}">
                <a16:creationId xmlns:a16="http://schemas.microsoft.com/office/drawing/2014/main" id="{964B54A3-7254-BBCE-912D-BF7560C90712}"/>
              </a:ext>
            </a:extLst>
          </p:cNvPr>
          <p:cNvSpPr>
            <a:spLocks/>
          </p:cNvSpPr>
          <p:nvPr/>
        </p:nvSpPr>
        <p:spPr bwMode="auto">
          <a:xfrm>
            <a:off x="3275856" y="277289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2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A7B0DE18-4080-55C6-5F48-97D7F8F250B6}"/>
              </a:ext>
            </a:extLst>
          </p:cNvPr>
          <p:cNvSpPr txBox="1">
            <a:spLocks noChangeArrowheads="1"/>
          </p:cNvSpPr>
          <p:nvPr/>
        </p:nvSpPr>
        <p:spPr>
          <a:xfrm>
            <a:off x="4435400" y="908720"/>
            <a:ext cx="4601096" cy="394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u="sng" dirty="0">
                <a:latin typeface="Ericsson Hilda" panose="00000500000000000000" pitchFamily="2" charset="0"/>
              </a:rPr>
              <a:t>碳排放計算報告 </a:t>
            </a:r>
            <a:r>
              <a:rPr lang="en-US" altLang="zh-TW" sz="2400" b="1" u="sng" dirty="0">
                <a:latin typeface="Ericsson Hilda" panose="00000500000000000000" pitchFamily="2" charset="0"/>
              </a:rPr>
              <a:t>SME Climate Hub </a:t>
            </a:r>
            <a:endParaRPr lang="zh-TW" altLang="en-US" sz="2400" b="1" u="sng" dirty="0">
              <a:latin typeface="Ericsson Hilda" panose="00000500000000000000" pitchFamily="2" charset="0"/>
            </a:endParaRPr>
          </a:p>
        </p:txBody>
      </p:sp>
      <p:pic>
        <p:nvPicPr>
          <p:cNvPr id="8" name="圖片 7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67897FD4-9329-58C3-C6B2-7DAD29E4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84785"/>
            <a:ext cx="8352928" cy="3096344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2A80B165-A260-E8DB-6A7F-A3315D47249E}"/>
              </a:ext>
            </a:extLst>
          </p:cNvPr>
          <p:cNvSpPr>
            <a:spLocks/>
          </p:cNvSpPr>
          <p:nvPr/>
        </p:nvSpPr>
        <p:spPr bwMode="auto">
          <a:xfrm>
            <a:off x="395536" y="6165304"/>
            <a:ext cx="8280920" cy="864096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274320" tIns="27000" rIns="0" bIns="27432" anchor="ctr"/>
          <a:lstStyle/>
          <a:p>
            <a:pPr>
              <a:defRPr/>
            </a:pP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Ericsson Hilda" panose="00000500000000000000" pitchFamily="2" charset="0"/>
              </a:rPr>
              <a:t>Note : </a:t>
            </a:r>
            <a:r>
              <a:rPr lang="en-US" sz="1600" dirty="0" err="1">
                <a:solidFill>
                  <a:schemeClr val="bg1"/>
                </a:solidFill>
                <a:highlight>
                  <a:srgbClr val="000000"/>
                </a:highlight>
                <a:latin typeface="Ericsson Hilda" panose="00000500000000000000" pitchFamily="2" charset="0"/>
              </a:rPr>
              <a:t>本公司只有設備裝機工程服務，並無製造工廠，所以只計算Scope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Ericsson Hilda" panose="00000500000000000000" pitchFamily="2" charset="0"/>
              </a:rPr>
              <a:t> 1 &amp;2 </a:t>
            </a:r>
          </a:p>
        </p:txBody>
      </p:sp>
      <p:sp>
        <p:nvSpPr>
          <p:cNvPr id="4" name="WordArt 6">
            <a:extLst>
              <a:ext uri="{FF2B5EF4-FFF2-40B4-BE49-F238E27FC236}">
                <a16:creationId xmlns:a16="http://schemas.microsoft.com/office/drawing/2014/main" id="{45F71A9F-67E0-C896-0F7F-5D3E2EEECD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5" name="WordArt 7">
            <a:extLst>
              <a:ext uri="{FF2B5EF4-FFF2-40B4-BE49-F238E27FC236}">
                <a16:creationId xmlns:a16="http://schemas.microsoft.com/office/drawing/2014/main" id="{DE7D21FD-072A-203B-E913-118FEFC0BE4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extLst>
      <p:ext uri="{BB962C8B-B14F-4D97-AF65-F5344CB8AC3E}">
        <p14:creationId xmlns:p14="http://schemas.microsoft.com/office/powerpoint/2010/main" val="207895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Reduction Plan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CD3A8FDA-EBDA-A7E6-A1BA-DFE755C0FEDC}"/>
              </a:ext>
            </a:extLst>
          </p:cNvPr>
          <p:cNvGraphicFramePr>
            <a:graphicFrameLocks noGrp="1"/>
          </p:cNvGraphicFramePr>
          <p:nvPr/>
        </p:nvGraphicFramePr>
        <p:xfrm>
          <a:off x="333623" y="1196752"/>
          <a:ext cx="8640961" cy="352463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8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33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Scope 1 –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Fuel Combustion (48.9 ton)</a:t>
                      </a:r>
                    </a:p>
                  </a:txBody>
                  <a:tcPr marL="68584" marR="68584" marT="34285" marB="3428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19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Strategy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Action &amp; Measurement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Y2024-Y2030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Y2030 Target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Y2031-Y2050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94" marB="3429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Y2050 Target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3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降低燃油消耗、減少待速時間，使用新能源汽車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每年採購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(1-2)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台電動車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從油耗最多的車輛進行更換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公務出差盡可能使用公共交通工具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.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1.86%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2.81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11.16%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16.9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0.56%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0.84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22.32%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~33.7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減少外出會議，使用線上會議方式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採用線上會議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減少外出計畫全部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(100%).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0.43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%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0.65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2.59%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3.9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0.13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%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0.20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5.17%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 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7.8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商務旅行減少使用燃油車輛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宣導多搭乘大眾交通工具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計畫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5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年內至少有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(30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％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0.40%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0.61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2.43%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3.7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0.12%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0.18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4.86%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7.4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85" marB="342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9738DF3A-BE1B-39DA-A7D6-B21BED81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" y="4955459"/>
            <a:ext cx="2915816" cy="190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788D204-94E2-BBF0-25A9-6DAB8BD80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661" y="4955459"/>
            <a:ext cx="6278339" cy="190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rrow: Down 7">
            <a:extLst>
              <a:ext uri="{FF2B5EF4-FFF2-40B4-BE49-F238E27FC236}">
                <a16:creationId xmlns:a16="http://schemas.microsoft.com/office/drawing/2014/main" id="{FB7D57D0-EFE6-134D-6DA5-978888E35600}"/>
              </a:ext>
            </a:extLst>
          </p:cNvPr>
          <p:cNvSpPr>
            <a:spLocks/>
          </p:cNvSpPr>
          <p:nvPr/>
        </p:nvSpPr>
        <p:spPr bwMode="auto">
          <a:xfrm>
            <a:off x="4345879" y="638434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AF78D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3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WordArt 6">
            <a:extLst>
              <a:ext uri="{FF2B5EF4-FFF2-40B4-BE49-F238E27FC236}">
                <a16:creationId xmlns:a16="http://schemas.microsoft.com/office/drawing/2014/main" id="{97F8AC3C-BDA2-A864-4279-2B2F823703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8" name="WordArt 7">
            <a:extLst>
              <a:ext uri="{FF2B5EF4-FFF2-40B4-BE49-F238E27FC236}">
                <a16:creationId xmlns:a16="http://schemas.microsoft.com/office/drawing/2014/main" id="{A8043299-0E40-14C2-6FFF-101326046A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82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Reduction Plan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CD3A8FDA-EBDA-A7E6-A1BA-DFE755C0F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745947"/>
              </p:ext>
            </p:extLst>
          </p:nvPr>
        </p:nvGraphicFramePr>
        <p:xfrm>
          <a:off x="333623" y="1196752"/>
          <a:ext cx="8640961" cy="352463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8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33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  <a:cs typeface="Calibri" panose="020F0502020204030204" pitchFamily="34" charset="0"/>
                        </a:rPr>
                        <a:t>Scope 2 – Electricity (76.3 ton)</a:t>
                      </a:r>
                    </a:p>
                  </a:txBody>
                  <a:tcPr marL="68584" marR="68584" marT="34285" marB="3428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19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Strategy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Action &amp; Measurement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Y2024-Y2030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Y2030 Target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Y2031-Y2050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94" marB="3429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Y2050 Target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降低辦公室電力消耗，使用節能燈管、空調溫度設定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27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度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辦公室燈具計畫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5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年內全部更換為節能燈具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. (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每年更換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20%)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3.32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5.02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19.93%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30.1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1.00%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1.51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39.87%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~60.2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推行無紙化及使用回收紙列印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公司請款及文件簽核全面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(100%)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採用數位簽章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以減少紙張浪費</a:t>
                      </a:r>
                      <a:endParaRPr lang="en-US" altLang="zh-TW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67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1.02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4.04%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6.1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0.20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%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0.31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8.08%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12.2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宣傳教育，提高節能減排意識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每年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(Bi-Annually)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做一次宣傳教育並檢討前一年的排碳報告</a:t>
                      </a:r>
                      <a:endParaRPr lang="en-US" altLang="zh-TW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21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0.32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1.26%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1.9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0.06%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0.10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2.52%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3.8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85" marB="342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9738DF3A-BE1B-39DA-A7D6-B21BED81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" y="4955459"/>
            <a:ext cx="2915816" cy="190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788D204-94E2-BBF0-25A9-6DAB8BD80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661" y="4955459"/>
            <a:ext cx="6278339" cy="190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rrow: Down 7">
            <a:extLst>
              <a:ext uri="{FF2B5EF4-FFF2-40B4-BE49-F238E27FC236}">
                <a16:creationId xmlns:a16="http://schemas.microsoft.com/office/drawing/2014/main" id="{FB7D57D0-EFE6-134D-6DA5-978888E35600}"/>
              </a:ext>
            </a:extLst>
          </p:cNvPr>
          <p:cNvSpPr>
            <a:spLocks/>
          </p:cNvSpPr>
          <p:nvPr/>
        </p:nvSpPr>
        <p:spPr bwMode="auto">
          <a:xfrm>
            <a:off x="4345879" y="638434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AF78D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3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WordArt 6">
            <a:extLst>
              <a:ext uri="{FF2B5EF4-FFF2-40B4-BE49-F238E27FC236}">
                <a16:creationId xmlns:a16="http://schemas.microsoft.com/office/drawing/2014/main" id="{DC865391-94AB-EEB2-5E64-F3031C3143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8" name="WordArt 7">
            <a:extLst>
              <a:ext uri="{FF2B5EF4-FFF2-40B4-BE49-F238E27FC236}">
                <a16:creationId xmlns:a16="http://schemas.microsoft.com/office/drawing/2014/main" id="{26370605-419B-4203-6EB0-A6D736BC172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459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Reduction Plan 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CD3A8FDA-EBDA-A7E6-A1BA-DFE755C0F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66511"/>
              </p:ext>
            </p:extLst>
          </p:nvPr>
        </p:nvGraphicFramePr>
        <p:xfrm>
          <a:off x="333623" y="1196752"/>
          <a:ext cx="8640961" cy="352463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8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33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  <a:cs typeface="Calibri" panose="020F0502020204030204" pitchFamily="34" charset="0"/>
                        </a:rPr>
                        <a:t>Scope 3 – </a:t>
                      </a:r>
                      <a:r>
                        <a:rPr lang="en" altLang="zh-TW" sz="1000" b="1" kern="1200" dirty="0">
                          <a:solidFill>
                            <a:schemeClr val="tx1"/>
                          </a:solidFill>
                          <a:effectLst/>
                          <a:latin typeface="Ericsson Hilda" panose="00000500000000000000" pitchFamily="2" charset="0"/>
                          <a:ea typeface="+mn-ea"/>
                          <a:cs typeface="+mn-cs"/>
                        </a:rPr>
                        <a:t>Supply chain </a:t>
                      </a:r>
                      <a:r>
                        <a:rPr lang="en-US" sz="1000" dirty="0">
                          <a:latin typeface="Ericsson Hilda" panose="00000500000000000000" pitchFamily="2" charset="0"/>
                          <a:cs typeface="Calibri" panose="020F0502020204030204" pitchFamily="34" charset="0"/>
                        </a:rPr>
                        <a:t>(26 ton)</a:t>
                      </a:r>
                    </a:p>
                  </a:txBody>
                  <a:tcPr marL="68584" marR="68584" marT="34285" marB="34285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91445" marR="91445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196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Strategy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Action &amp; Measurement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Y2024-Y2030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Y2030 Target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Y2031-Y2050</a:t>
                      </a:r>
                    </a:p>
                    <a:p>
                      <a:pPr algn="ctr"/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Annual Target</a:t>
                      </a:r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94" marB="3429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Ericsson Hilda" panose="00000500000000000000" pitchFamily="2" charset="0"/>
                        </a:rPr>
                        <a:t>Y2050 Target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貨運運輸車輛減少使用燃油車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物料運送時車輛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盡可能派遣非燃油車輛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及減少運輸次數</a:t>
                      </a:r>
                      <a:endParaRPr lang="en-US" altLang="zh-TW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1.36%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2.06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8.17%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12.4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0.41%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reduction/Year</a:t>
                      </a:r>
                    </a:p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0.62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16.34%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24.8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倉儲物流用具物品使用環保材質</a:t>
                      </a: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倉儲辦公、物流包裝用具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優先採用非塑化材質物品</a:t>
                      </a:r>
                      <a:r>
                        <a:rPr lang="en-US" altLang="zh-TW" sz="1000" dirty="0">
                          <a:latin typeface="Ericsson Hilda" panose="00000500000000000000" pitchFamily="2" charset="0"/>
                        </a:rPr>
                        <a:t>,</a:t>
                      </a:r>
                      <a:r>
                        <a:rPr lang="zh-TW" altLang="en-US" sz="1000" dirty="0">
                          <a:latin typeface="Ericsson Hilda" panose="00000500000000000000" pitchFamily="2" charset="0"/>
                        </a:rPr>
                        <a:t>及可回收利用材質</a:t>
                      </a:r>
                      <a:endParaRPr lang="en-US" altLang="zh-TW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0.0</a:t>
                      </a:r>
                      <a:r>
                        <a:rPr lang="en-US" altLang="zh-TW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7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%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0.11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0.43%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0.7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0.02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% reduction/Year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(Reducing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0.03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CO2e/Year)</a:t>
                      </a:r>
                    </a:p>
                  </a:txBody>
                  <a:tcPr marL="68584" marR="68584" marT="34294" marB="34294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新細明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Ericsson Hilda" panose="00000500000000000000" pitchFamily="2" charset="0"/>
                        </a:rPr>
                        <a:t>(Accumulated)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0.86% 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reduction (Reduce ~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  <a:latin typeface="Ericsson Hilda" panose="00000500000000000000" pitchFamily="2" charset="0"/>
                        </a:rPr>
                        <a:t>1.4</a:t>
                      </a:r>
                      <a:r>
                        <a:rPr lang="en-US" sz="1000" dirty="0">
                          <a:latin typeface="Ericsson Hilda" panose="00000500000000000000" pitchFamily="2" charset="0"/>
                        </a:rPr>
                        <a:t> ton CO2e)</a:t>
                      </a:r>
                    </a:p>
                  </a:txBody>
                  <a:tcPr marL="68584" marR="68584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370">
                <a:tc>
                  <a:txBody>
                    <a:bodyPr/>
                    <a:lstStyle/>
                    <a:p>
                      <a:endParaRPr lang="zh-TW" alt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endParaRPr lang="en-US" altLang="zh-TW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Ericsson Hilda" panose="00000500000000000000" pitchFamily="2" charset="0"/>
                      </a:endParaRPr>
                    </a:p>
                  </a:txBody>
                  <a:tcPr marL="68584" marR="68584" marT="34285" marB="342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4">
            <a:extLst>
              <a:ext uri="{FF2B5EF4-FFF2-40B4-BE49-F238E27FC236}">
                <a16:creationId xmlns:a16="http://schemas.microsoft.com/office/drawing/2014/main" id="{9738DF3A-BE1B-39DA-A7D6-B21BED81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" y="4955459"/>
            <a:ext cx="2915816" cy="190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788D204-94E2-BBF0-25A9-6DAB8BD80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661" y="4955459"/>
            <a:ext cx="6278339" cy="190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rrow: Down 7">
            <a:extLst>
              <a:ext uri="{FF2B5EF4-FFF2-40B4-BE49-F238E27FC236}">
                <a16:creationId xmlns:a16="http://schemas.microsoft.com/office/drawing/2014/main" id="{FB7D57D0-EFE6-134D-6DA5-978888E35600}"/>
              </a:ext>
            </a:extLst>
          </p:cNvPr>
          <p:cNvSpPr>
            <a:spLocks/>
          </p:cNvSpPr>
          <p:nvPr/>
        </p:nvSpPr>
        <p:spPr bwMode="auto">
          <a:xfrm>
            <a:off x="4345879" y="638434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AF78D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3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WordArt 6">
            <a:extLst>
              <a:ext uri="{FF2B5EF4-FFF2-40B4-BE49-F238E27FC236}">
                <a16:creationId xmlns:a16="http://schemas.microsoft.com/office/drawing/2014/main" id="{C3614B8E-DA62-655E-219F-B23E2171222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8" name="WordArt 7">
            <a:extLst>
              <a:ext uri="{FF2B5EF4-FFF2-40B4-BE49-F238E27FC236}">
                <a16:creationId xmlns:a16="http://schemas.microsoft.com/office/drawing/2014/main" id="{1AE304F2-3212-26F7-C933-BBBD468F2E7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542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Public Target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B19252-36C1-4889-BB89-1674676AE838}"/>
              </a:ext>
            </a:extLst>
          </p:cNvPr>
          <p:cNvSpPr>
            <a:spLocks/>
          </p:cNvSpPr>
          <p:nvPr/>
        </p:nvSpPr>
        <p:spPr>
          <a:xfrm>
            <a:off x="457201" y="3889134"/>
            <a:ext cx="2536520" cy="208823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0" rIns="685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181818"/>
              </a:buClr>
              <a:defRPr/>
            </a:pPr>
            <a:r>
              <a:rPr lang="en-US" sz="2000" dirty="0">
                <a:solidFill>
                  <a:schemeClr val="bg1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Company will halve emissions by 2030 and reach Net-Zero by 2050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52471-CF66-424F-99D0-3D5E6BF0122A}"/>
              </a:ext>
            </a:extLst>
          </p:cNvPr>
          <p:cNvSpPr>
            <a:spLocks/>
          </p:cNvSpPr>
          <p:nvPr/>
        </p:nvSpPr>
        <p:spPr>
          <a:xfrm>
            <a:off x="457200" y="1772816"/>
            <a:ext cx="2536521" cy="195846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0" rIns="6858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57175" indent="-257175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2000" kern="0" dirty="0">
              <a:solidFill>
                <a:schemeClr val="bg1"/>
              </a:solidFill>
              <a:latin typeface="Ericsson Hilda" panose="00000500000000000000" pitchFamily="2" charset="0"/>
              <a:cs typeface="Arial" panose="020B0604020202020204" pitchFamily="34" charset="0"/>
            </a:endParaRPr>
          </a:p>
          <a:p>
            <a:pPr algn="ctr">
              <a:buClr>
                <a:srgbClr val="181818"/>
              </a:buClr>
              <a:defRPr/>
            </a:pPr>
            <a:r>
              <a:rPr lang="en-US" sz="2000" dirty="0">
                <a:solidFill>
                  <a:schemeClr val="bg1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Gau </a:t>
            </a:r>
            <a:r>
              <a:rPr lang="en-US" sz="2000" dirty="0" err="1">
                <a:solidFill>
                  <a:schemeClr val="bg1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Shyang</a:t>
            </a:r>
            <a:r>
              <a:rPr lang="en-US" sz="2000" dirty="0">
                <a:solidFill>
                  <a:schemeClr val="bg1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 Telecom publishes their target in line with the 1,5°C Climate Ambition </a:t>
            </a:r>
          </a:p>
          <a:p>
            <a:pPr algn="l">
              <a:buClr>
                <a:srgbClr val="181818"/>
              </a:buClr>
              <a:defRPr/>
            </a:pPr>
            <a:endParaRPr lang="en-US" sz="1500" dirty="0">
              <a:solidFill>
                <a:schemeClr val="bg1"/>
              </a:solidFill>
              <a:latin typeface="Ericsson Hilda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5BBC08-826A-4CA8-8639-B076E5EC0BD3}"/>
              </a:ext>
            </a:extLst>
          </p:cNvPr>
          <p:cNvSpPr>
            <a:spLocks/>
          </p:cNvSpPr>
          <p:nvPr/>
        </p:nvSpPr>
        <p:spPr>
          <a:xfrm>
            <a:off x="3137738" y="1772816"/>
            <a:ext cx="2792119" cy="4204545"/>
          </a:xfrm>
          <a:prstGeom prst="rect">
            <a:avLst/>
          </a:prstGeom>
          <a:solidFill>
            <a:schemeClr val="bg2"/>
          </a:solidFill>
        </p:spPr>
        <p:txBody>
          <a:bodyPr wrap="square" lIns="102870" tIns="68580" anchor="ctr" anchorCtr="0">
            <a:noAutofit/>
          </a:bodyPr>
          <a:lstStyle/>
          <a:p>
            <a:pPr algn="ctr">
              <a:spcBef>
                <a:spcPts val="450"/>
              </a:spcBef>
              <a:spcAft>
                <a:spcPts val="675"/>
              </a:spcAft>
            </a:pPr>
            <a:r>
              <a:rPr lang="en-US" sz="2400" dirty="0">
                <a:solidFill>
                  <a:srgbClr val="181818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The public commitment is published on the company’s own website, annual report, or on SME Climate Hub</a:t>
            </a:r>
          </a:p>
          <a:p>
            <a:pPr algn="ctr">
              <a:spcBef>
                <a:spcPts val="450"/>
              </a:spcBef>
              <a:spcAft>
                <a:spcPts val="675"/>
              </a:spcAft>
            </a:pPr>
            <a:r>
              <a:rPr lang="en-US" sz="2000" dirty="0" err="1">
                <a:solidFill>
                  <a:srgbClr val="181818"/>
                </a:solidFill>
                <a:latin typeface="Ericsson Hilda" panose="00000500000000000000" pitchFamily="2" charset="0"/>
                <a:cs typeface="Arial" panose="020B0604020202020204" pitchFamily="34" charset="0"/>
              </a:rPr>
              <a:t>詳閱請蒞臨公司網址</a:t>
            </a:r>
            <a:endParaRPr lang="en-US" sz="2000" dirty="0">
              <a:solidFill>
                <a:srgbClr val="181818"/>
              </a:solidFill>
              <a:latin typeface="Ericsson Hilda" panose="000005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675"/>
              </a:spcAft>
            </a:pPr>
            <a:r>
              <a:rPr lang="en-US" sz="2000" dirty="0">
                <a:solidFill>
                  <a:srgbClr val="181818"/>
                </a:solidFill>
                <a:latin typeface="Ericsson Hilda" panose="00000500000000000000" pitchFamily="2" charset="0"/>
                <a:cs typeface="Arial" panose="020B0604020202020204" pitchFamily="34" charset="0"/>
                <a:hlinkClick r:id="rId4"/>
              </a:rPr>
              <a:t>https://gaushyang.netlify.app</a:t>
            </a:r>
            <a:r>
              <a:rPr lang="en-US" sz="2000">
                <a:solidFill>
                  <a:srgbClr val="181818"/>
                </a:solidFill>
                <a:latin typeface="Ericsson Hilda" panose="00000500000000000000" pitchFamily="2" charset="0"/>
                <a:cs typeface="Arial" panose="020B0604020202020204" pitchFamily="34" charset="0"/>
                <a:hlinkClick r:id="rId4"/>
              </a:rPr>
              <a:t>/#</a:t>
            </a:r>
            <a:endParaRPr lang="en-US" sz="2000">
              <a:solidFill>
                <a:srgbClr val="181818"/>
              </a:solidFill>
              <a:latin typeface="Ericsson Hilda" panose="000005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675"/>
              </a:spcAft>
            </a:pPr>
            <a:endParaRPr lang="en-US" sz="2000" dirty="0">
              <a:solidFill>
                <a:srgbClr val="181818"/>
              </a:solidFill>
              <a:latin typeface="Ericsson Hilda" panose="00000500000000000000" pitchFamily="2" charset="0"/>
              <a:cs typeface="Arial" panose="020B0604020202020204" pitchFamily="34" charset="0"/>
            </a:endParaRPr>
          </a:p>
          <a:p>
            <a:pPr algn="ctr">
              <a:spcBef>
                <a:spcPts val="450"/>
              </a:spcBef>
              <a:spcAft>
                <a:spcPts val="675"/>
              </a:spcAft>
            </a:pPr>
            <a:endParaRPr lang="en-US" dirty="0">
              <a:solidFill>
                <a:srgbClr val="181818"/>
              </a:solidFill>
              <a:latin typeface="Ericsson Hilda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FD03E-C3C2-B331-4BC3-2162076069F4}"/>
              </a:ext>
            </a:extLst>
          </p:cNvPr>
          <p:cNvSpPr>
            <a:spLocks/>
          </p:cNvSpPr>
          <p:nvPr/>
        </p:nvSpPr>
        <p:spPr>
          <a:xfrm>
            <a:off x="6121978" y="3889134"/>
            <a:ext cx="2648103" cy="208822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tIns="0" bIns="0" anchor="ctr"/>
          <a:lstStyle/>
          <a:p>
            <a:pPr algn="ctr">
              <a:buClr>
                <a:srgbClr val="181818"/>
              </a:buClr>
              <a:defRPr/>
            </a:pP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至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2030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年每年減量目標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8%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2030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至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2050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年每年減量目標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2.6%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，於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2050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年達到淨零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259FD-7A7F-55A3-50F5-883E941D8122}"/>
              </a:ext>
            </a:extLst>
          </p:cNvPr>
          <p:cNvSpPr>
            <a:spLocks/>
          </p:cNvSpPr>
          <p:nvPr/>
        </p:nvSpPr>
        <p:spPr>
          <a:xfrm>
            <a:off x="6113180" y="1772816"/>
            <a:ext cx="2648103" cy="195846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tIns="0" bIns="0" anchor="ctr"/>
          <a:lstStyle/>
          <a:p>
            <a:pPr algn="ctr">
              <a:buClr>
                <a:srgbClr val="181818"/>
              </a:buClr>
              <a:defRPr/>
            </a:pP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高祥電信工程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股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公司</a:t>
            </a:r>
            <a:endParaRPr lang="en-US" altLang="zh-TW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181818"/>
              </a:buClr>
              <a:defRPr/>
            </a:pP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承諾：以實現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1.5℃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為企業目標，設定符合</a:t>
            </a:r>
            <a:r>
              <a:rPr lang="en-US" altLang="zh-TW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SBTi 1.5°C</a:t>
            </a:r>
            <a:r>
              <a:rPr lang="zh-TW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淨零減量目標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rrow: Down 7">
            <a:extLst>
              <a:ext uri="{FF2B5EF4-FFF2-40B4-BE49-F238E27FC236}">
                <a16:creationId xmlns:a16="http://schemas.microsoft.com/office/drawing/2014/main" id="{01FC9C04-3FF8-3FCF-63D4-1C078EAB069A}"/>
              </a:ext>
            </a:extLst>
          </p:cNvPr>
          <p:cNvSpPr>
            <a:spLocks/>
          </p:cNvSpPr>
          <p:nvPr/>
        </p:nvSpPr>
        <p:spPr bwMode="auto">
          <a:xfrm>
            <a:off x="3851920" y="692696"/>
            <a:ext cx="308225" cy="415407"/>
          </a:xfrm>
          <a:prstGeom prst="downArrow">
            <a:avLst>
              <a:gd name="adj1" fmla="val 100000"/>
              <a:gd name="adj2" fmla="val 50000"/>
            </a:avLst>
          </a:prstGeom>
          <a:solidFill>
            <a:srgbClr val="FAD22D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dirty="0">
                <a:solidFill>
                  <a:schemeClr val="bg1"/>
                </a:solidFill>
              </a:rPr>
              <a:t>4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WordArt 6">
            <a:extLst>
              <a:ext uri="{FF2B5EF4-FFF2-40B4-BE49-F238E27FC236}">
                <a16:creationId xmlns:a16="http://schemas.microsoft.com/office/drawing/2014/main" id="{D79FE4F8-39B3-30D7-3C93-B0FB93C84C1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786563" y="50800"/>
            <a:ext cx="1733550" cy="342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48069"/>
              </a:avLst>
            </a:prstTxWarp>
          </a:bodyPr>
          <a:lstStyle/>
          <a:p>
            <a:pPr algn="ctr"/>
            <a:r>
              <a:rPr lang="en" altLang="zh-TW" sz="3600" b="1" kern="10" dirty="0">
                <a:solidFill>
                  <a:srgbClr val="FF0000"/>
                </a:solidFill>
                <a:effectLst>
                  <a:outerShdw dist="107763" dir="13500000" algn="ctr" rotWithShape="0">
                    <a:srgbClr val="C0C0C0"/>
                  </a:outerShdw>
                </a:effectLst>
                <a:latin typeface="華康儷特圓"/>
              </a:rPr>
              <a:t>Gau Shyang</a:t>
            </a:r>
            <a:endParaRPr lang="zh-TW" altLang="en-US" sz="3600" b="1" kern="10" dirty="0">
              <a:solidFill>
                <a:srgbClr val="FF0000"/>
              </a:solidFill>
              <a:effectLst>
                <a:outerShdw dist="107763" dir="13500000" algn="ctr" rotWithShape="0">
                  <a:srgbClr val="C0C0C0"/>
                </a:outerShdw>
              </a:effectLst>
              <a:latin typeface="華康儷特圓"/>
            </a:endParaRPr>
          </a:p>
        </p:txBody>
      </p:sp>
      <p:sp>
        <p:nvSpPr>
          <p:cNvPr id="7" name="WordArt 7">
            <a:extLst>
              <a:ext uri="{FF2B5EF4-FFF2-40B4-BE49-F238E27FC236}">
                <a16:creationId xmlns:a16="http://schemas.microsoft.com/office/drawing/2014/main" id="{5CF73121-AEC0-7FC4-B673-1949CD309E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40352" y="393700"/>
            <a:ext cx="1326878" cy="3710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3600" kern="10" dirty="0">
                <a:solidFill>
                  <a:srgbClr val="0000FF"/>
                </a:solidFill>
                <a:effectLst>
                  <a:prstShdw prst="shdw17" dist="17961" dir="13500000">
                    <a:srgbClr val="000099"/>
                  </a:prstShdw>
                </a:effectLst>
                <a:latin typeface="新細明體" panose="02020500000000000000" pitchFamily="18" charset="-120"/>
              </a:rPr>
              <a:t>高祥電信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439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23458"/>
            <a:ext cx="9144000" cy="3361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高祥標誌">
            <a:extLst>
              <a:ext uri="{FF2B5EF4-FFF2-40B4-BE49-F238E27FC236}">
                <a16:creationId xmlns:a16="http://schemas.microsoft.com/office/drawing/2014/main" id="{903CE6F3-72D2-D8DD-0020-5529766CD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54" y="620688"/>
            <a:ext cx="15113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WordArt 5">
            <a:extLst>
              <a:ext uri="{FF2B5EF4-FFF2-40B4-BE49-F238E27FC236}">
                <a16:creationId xmlns:a16="http://schemas.microsoft.com/office/drawing/2014/main" id="{0DE9CEF2-7DBD-15D3-D653-D5410CE6880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726504" y="620688"/>
            <a:ext cx="5470525" cy="863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TW" altLang="en-US" sz="2800" b="1" kern="10" dirty="0">
                <a:ln w="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電信工程股份有限公司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547664" y="1628800"/>
            <a:ext cx="6296340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" altLang="zh-TW" sz="6600" b="1" dirty="0">
                <a:solidFill>
                  <a:schemeClr val="tx2"/>
                </a:solidFill>
                <a:latin typeface="Ericsson Hilda" panose="00000500000000000000" pitchFamily="2" charset="0"/>
                <a:ea typeface="微軟正黑體" pitchFamily="34" charset="-120"/>
                <a:cs typeface="Arial" panose="020B0604020202020204" pitchFamily="34" charset="0"/>
              </a:rPr>
              <a:t>END</a:t>
            </a:r>
            <a:endParaRPr lang="en-US" altLang="zh-TW" sz="6600" b="1" dirty="0">
              <a:solidFill>
                <a:schemeClr val="tx2"/>
              </a:solidFill>
              <a:latin typeface="Ericsson Hilda" panose="00000500000000000000" pitchFamily="2" charset="0"/>
              <a:ea typeface="微軟正黑體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6000" b="1" dirty="0">
                <a:solidFill>
                  <a:schemeClr val="tx2"/>
                </a:solidFill>
                <a:latin typeface="Ericsson Hilda" panose="00000500000000000000" pitchFamily="2" charset="0"/>
                <a:ea typeface="微軟正黑體" pitchFamily="34" charset="-120"/>
                <a:cs typeface="Arial" panose="020B0604020202020204" pitchFamily="34" charset="0"/>
              </a:rPr>
              <a:t>10 Oct, 2024</a:t>
            </a:r>
            <a:endParaRPr lang="en" altLang="zh-TW" sz="6000" b="1" dirty="0">
              <a:solidFill>
                <a:schemeClr val="tx2"/>
              </a:solidFill>
              <a:latin typeface="Ericsson Hilda" panose="00000500000000000000" pitchFamily="2" charset="0"/>
              <a:ea typeface="微軟正黑體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84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5721972474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572197247495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57219724749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655721972474959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1215</Words>
  <Application>Microsoft Macintosh PowerPoint</Application>
  <PresentationFormat>如螢幕大小 (4:3)</PresentationFormat>
  <Paragraphs>169</Paragraphs>
  <Slides>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華康儷特圓</vt:lpstr>
      <vt:lpstr>微軟正黑體</vt:lpstr>
      <vt:lpstr>新細明體</vt:lpstr>
      <vt:lpstr>Ericsson Hilda</vt:lpstr>
      <vt:lpstr>Aptos</vt:lpstr>
      <vt:lpstr>Arial</vt:lpstr>
      <vt:lpstr>Calibri</vt:lpstr>
      <vt:lpstr>Office 佈景主題</vt:lpstr>
      <vt:lpstr>PowerPoint 簡報</vt:lpstr>
      <vt:lpstr>Committed to Act </vt:lpstr>
      <vt:lpstr>Map Emissions Emission mapping by  Gau Shyang Telecom</vt:lpstr>
      <vt:lpstr>Reduction Plan </vt:lpstr>
      <vt:lpstr>Reduction Plan </vt:lpstr>
      <vt:lpstr>Reduction Plan </vt:lpstr>
      <vt:lpstr>Public Target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饒時豪高祥</dc:creator>
  <cp:lastModifiedBy>Benson Shen</cp:lastModifiedBy>
  <cp:revision>40</cp:revision>
  <dcterms:created xsi:type="dcterms:W3CDTF">2024-08-26T03:13:20Z</dcterms:created>
  <dcterms:modified xsi:type="dcterms:W3CDTF">2026-07-03T04:02:13Z</dcterms:modified>
</cp:coreProperties>
</file>